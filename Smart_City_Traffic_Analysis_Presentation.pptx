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0"/>
            <a:ext cx="4572000" cy="6858000"/>
          </a:xfrm>
          <a:prstGeom prst="line">
            <a:avLst/>
          </a:prstGeom>
          <a:noFill/>
          <a:ln w="1397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E8A33D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88239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83080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PROJECT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 Traffic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41248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dashboard exploring urban traffic flow, road safety, and the environmental cost of congestion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1248" y="470916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5074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Dejaswini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Trainee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589520" y="5989320"/>
            <a:ext cx="139772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FB3B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5989320"/>
            <a:ext cx="1397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51838" y="5989320"/>
            <a:ext cx="809897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FB3BF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51838" y="5989320"/>
            <a:ext cx="8098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126327" y="5989320"/>
            <a:ext cx="198555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FB3BF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26327" y="5989320"/>
            <a:ext cx="1985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traffic congestion is one of the most pressing challenges for modern cities — it affects commute times, road safety, fuel consumption, and air quality. This project builds a unified Power BI dashboard that brings traffic, incident, and environmental data together into a single analytical view for city planning and decision-making.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31866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999232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traffic volume, speed, and congestion across city zones to identify peak-hour bottlenecks.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8346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3063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31866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2999232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incident frequency, severity, and emergency response performance to strengthen road safety.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8783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690872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environmental and economic cost of traffic — emissions, fuel use, and noise pollution.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989320" y="45262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47548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48783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4690872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single interactive tool that empowers city planners with data-driven decisions.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Tools &amp;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9339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smart_city_traffic_final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traffic records by zone, area &amp; date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FIELDS CAPTURED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721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6027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Traffic: hour_of_day, day_of_week, day_type, zone, area_name, traffic 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2885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1696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incident_type, incident_severity, signal_type, road_condition, weather_condition, CCTV coverage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48554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47365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AQI category, CO2, fuel type &amp; consumption, noise level, EV count, fare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55778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modeled entirely within Power BI Desktop using Power Query for transformation and DAX for calculated measures.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6364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18745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8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446520" y="20391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5798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19476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40880" y="22585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design, visuals &amp; layout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63640" y="27889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8F9"/>
          </a:solidFill>
          <a:ln/>
        </p:spPr>
      </p:sp>
      <p:sp>
        <p:nvSpPr>
          <p:cNvPr id="24" name="Shape 20"/>
          <p:cNvSpPr/>
          <p:nvPr/>
        </p:nvSpPr>
        <p:spPr>
          <a:xfrm>
            <a:off x="6446520" y="29535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07238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40880" y="2862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040880" y="31729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 measures &amp; calculations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37033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8F9"/>
          </a:solidFill>
          <a:ln/>
        </p:spPr>
      </p:sp>
      <p:sp>
        <p:nvSpPr>
          <p:cNvPr id="29" name="Shape 24"/>
          <p:cNvSpPr/>
          <p:nvPr/>
        </p:nvSpPr>
        <p:spPr>
          <a:xfrm>
            <a:off x="6446520" y="38679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98678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37764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040880" y="40873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263640" y="46177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8F9"/>
          </a:solidFill>
          <a:ln/>
        </p:spPr>
      </p:sp>
      <p:sp>
        <p:nvSpPr>
          <p:cNvPr id="34" name="Shape 28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901184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40880" y="46908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Custom Visuals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040880" y="50017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Geo-spatial zone analysis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26364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263640" y="5897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Power Query Cleaning  →  Data Modeling  →  DAX Measures  →  Visual Design  →  Interactive Dashboard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organized into three purpose-built pages, each answering a distinct business 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01600" dist="25400" dir="5400000">
              <a:srgbClr val="1B2B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3593592" cy="6858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21408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4942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7568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City In Motion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463040" y="243230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303580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traffic volume, speed and congestion vary by time, zone and day type across the city.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" y="404164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INCLUDE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4672" y="439826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969264" y="427939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471373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969264" y="45948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trend line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4672" y="502920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" y="49103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4672" y="534466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8"/>
          <p:cNvSpPr/>
          <p:nvPr/>
        </p:nvSpPr>
        <p:spPr>
          <a:xfrm>
            <a:off x="969264" y="52257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Day-type treemap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4672" y="5660136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" y="55412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by zone bars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98264" y="18745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01600" dist="25400" dir="5400000">
              <a:srgbClr val="1B2B45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98264" y="187452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26" name="Shape 23"/>
          <p:cNvSpPr/>
          <p:nvPr/>
        </p:nvSpPr>
        <p:spPr>
          <a:xfrm>
            <a:off x="4398264" y="2606040"/>
            <a:ext cx="3593592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Shape 24"/>
          <p:cNvSpPr/>
          <p:nvPr/>
        </p:nvSpPr>
        <p:spPr>
          <a:xfrm>
            <a:off x="4654296" y="2121408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49424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12664" y="207568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Streets &amp; Safety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5312664" y="243230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&amp; Response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54296" y="303580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incidents occur, and how effective the city's emergency response and signals are.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654296" y="404164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INCLUDE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654296" y="4398264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4" name="Text 30"/>
          <p:cNvSpPr/>
          <p:nvPr/>
        </p:nvSpPr>
        <p:spPr>
          <a:xfrm>
            <a:off x="4818888" y="427939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654296" y="4713732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2"/>
          <p:cNvSpPr/>
          <p:nvPr/>
        </p:nvSpPr>
        <p:spPr>
          <a:xfrm>
            <a:off x="4818888" y="45948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 donut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654296" y="5029200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8" name="Text 34"/>
          <p:cNvSpPr/>
          <p:nvPr/>
        </p:nvSpPr>
        <p:spPr>
          <a:xfrm>
            <a:off x="4818888" y="49103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funnel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654296" y="5344668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0" name="Text 36"/>
          <p:cNvSpPr/>
          <p:nvPr/>
        </p:nvSpPr>
        <p:spPr>
          <a:xfrm>
            <a:off x="4818888" y="52257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chart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654296" y="5660136"/>
            <a:ext cx="64008" cy="640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2" name="Text 38"/>
          <p:cNvSpPr/>
          <p:nvPr/>
        </p:nvSpPr>
        <p:spPr>
          <a:xfrm>
            <a:off x="4818888" y="55412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247888" y="18745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01600" dist="25400" dir="5400000">
              <a:srgbClr val="1B2B45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8247888" y="187452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C1502E"/>
          </a:solidFill>
          <a:ln/>
        </p:spPr>
      </p:sp>
      <p:sp>
        <p:nvSpPr>
          <p:cNvPr id="45" name="Shape 41"/>
          <p:cNvSpPr/>
          <p:nvPr/>
        </p:nvSpPr>
        <p:spPr>
          <a:xfrm>
            <a:off x="8247888" y="2606040"/>
            <a:ext cx="3593592" cy="68580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46" name="Shape 42"/>
          <p:cNvSpPr/>
          <p:nvPr/>
        </p:nvSpPr>
        <p:spPr>
          <a:xfrm>
            <a:off x="8503920" y="2121408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249424"/>
            <a:ext cx="274320" cy="27432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9162288" y="207568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Hidden Cost</a:t>
            </a:r>
            <a:endParaRPr lang="en-US" sz="1650" dirty="0"/>
          </a:p>
        </p:txBody>
      </p:sp>
      <p:sp>
        <p:nvSpPr>
          <p:cNvPr id="49" name="Text 44"/>
          <p:cNvSpPr/>
          <p:nvPr/>
        </p:nvSpPr>
        <p:spPr>
          <a:xfrm>
            <a:off x="9162288" y="243230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Economic Impact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8503920" y="303580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cost of congestion in emissions, fuel and noise — and how EVs shift that balance.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8503920" y="404164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INCLUDE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8503920" y="4398264"/>
            <a:ext cx="64008" cy="6400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3" name="Text 48"/>
          <p:cNvSpPr/>
          <p:nvPr/>
        </p:nvSpPr>
        <p:spPr>
          <a:xfrm>
            <a:off x="8668512" y="427939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8503920" y="4713732"/>
            <a:ext cx="64008" cy="6400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5" name="Text 50"/>
          <p:cNvSpPr/>
          <p:nvPr/>
        </p:nvSpPr>
        <p:spPr>
          <a:xfrm>
            <a:off x="8668512" y="45948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trend area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8503920" y="5029200"/>
            <a:ext cx="64008" cy="6400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7" name="Text 52"/>
          <p:cNvSpPr/>
          <p:nvPr/>
        </p:nvSpPr>
        <p:spPr>
          <a:xfrm>
            <a:off x="8668512" y="49103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by zone treemap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8503920" y="5344668"/>
            <a:ext cx="64008" cy="6400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9" name="Text 54"/>
          <p:cNvSpPr/>
          <p:nvPr/>
        </p:nvSpPr>
        <p:spPr>
          <a:xfrm>
            <a:off x="8668512" y="52257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vs traffic combo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926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  —  City In Motion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23444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flow, speed &amp; congestion overview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677924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Traffic Volume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5778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vehicles tracked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2359152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05456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1677924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5456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Index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505456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congestion score</a:t>
            </a:r>
            <a:endParaRPr lang="en-US" sz="830" dirty="0"/>
          </a:p>
        </p:txBody>
      </p:sp>
      <p:sp>
        <p:nvSpPr>
          <p:cNvPr id="17" name="Shape 12"/>
          <p:cNvSpPr/>
          <p:nvPr/>
        </p:nvSpPr>
        <p:spPr>
          <a:xfrm>
            <a:off x="4306824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453128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677924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3128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Utilization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453128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road capacity used</a:t>
            </a:r>
            <a:endParaRPr lang="en-US" sz="830" dirty="0"/>
          </a:p>
        </p:txBody>
      </p:sp>
      <p:sp>
        <p:nvSpPr>
          <p:cNvPr id="22" name="Shape 16"/>
          <p:cNvSpPr/>
          <p:nvPr/>
        </p:nvSpPr>
        <p:spPr>
          <a:xfrm>
            <a:off x="6254496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0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677924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Index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0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free-flow travel time</a:t>
            </a:r>
            <a:endParaRPr lang="en-US" sz="830" dirty="0"/>
          </a:p>
        </p:txBody>
      </p:sp>
      <p:sp>
        <p:nvSpPr>
          <p:cNvPr id="27" name="Shape 20"/>
          <p:cNvSpPr/>
          <p:nvPr/>
        </p:nvSpPr>
        <p:spPr>
          <a:xfrm>
            <a:off x="8202168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48472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1677924"/>
            <a:ext cx="173736" cy="1737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48472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Violations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8348472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over-speed events</a:t>
            </a:r>
            <a:endParaRPr lang="en-US" sz="830" dirty="0"/>
          </a:p>
        </p:txBody>
      </p:sp>
      <p:sp>
        <p:nvSpPr>
          <p:cNvPr id="32" name="Shape 24"/>
          <p:cNvSpPr/>
          <p:nvPr/>
        </p:nvSpPr>
        <p:spPr>
          <a:xfrm>
            <a:off x="1014984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296144" y="15819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156" y="1677924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29614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 (km/h)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29614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vehicle speed</a:t>
            </a:r>
            <a:endParaRPr lang="en-US" sz="830" dirty="0"/>
          </a:p>
        </p:txBody>
      </p:sp>
      <p:sp>
        <p:nvSpPr>
          <p:cNvPr id="37" name="Text 28"/>
          <p:cNvSpPr/>
          <p:nvPr/>
        </p:nvSpPr>
        <p:spPr>
          <a:xfrm>
            <a:off x="4114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11480" y="326440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9" name="Text 30"/>
          <p:cNvSpPr/>
          <p:nvPr/>
        </p:nvSpPr>
        <p:spPr>
          <a:xfrm>
            <a:off x="61264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Trend Line: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Traffic Volume across hour_of_day &amp; Time Period — reveals morning/evening peak windows.</a:t>
            </a:r>
            <a:endParaRPr lang="en-US" sz="1080" dirty="0"/>
          </a:p>
        </p:txBody>
      </p:sp>
      <p:sp>
        <p:nvSpPr>
          <p:cNvPr id="40" name="Shape 31"/>
          <p:cNvSpPr/>
          <p:nvPr/>
        </p:nvSpPr>
        <p:spPr>
          <a:xfrm>
            <a:off x="6263640" y="326440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1" name="Text 32"/>
          <p:cNvSpPr/>
          <p:nvPr/>
        </p:nvSpPr>
        <p:spPr>
          <a:xfrm>
            <a:off x="646480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Status Donut: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free-flow, moderate, and congested conditions by traffic volume.</a:t>
            </a:r>
            <a:endParaRPr lang="en-US" sz="1080" dirty="0"/>
          </a:p>
        </p:txBody>
      </p:sp>
      <p:sp>
        <p:nvSpPr>
          <p:cNvPr id="42" name="Shape 33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3" name="Text 34"/>
          <p:cNvSpPr/>
          <p:nvPr/>
        </p:nvSpPr>
        <p:spPr>
          <a:xfrm>
            <a:off x="61264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Map: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Geo-distribution of traffic status, congestion index, avg speed and volume by area_name.</a:t>
            </a:r>
            <a:endParaRPr lang="en-US" sz="1080" dirty="0"/>
          </a:p>
        </p:txBody>
      </p:sp>
      <p:sp>
        <p:nvSpPr>
          <p:cNvPr id="44" name="Shape 35"/>
          <p:cNvSpPr/>
          <p:nvPr/>
        </p:nvSpPr>
        <p:spPr>
          <a:xfrm>
            <a:off x="6263640" y="386791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5" name="Text 36"/>
          <p:cNvSpPr/>
          <p:nvPr/>
        </p:nvSpPr>
        <p:spPr>
          <a:xfrm>
            <a:off x="646480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Day of Week: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comparing weekday vs weekend traffic load.</a:t>
            </a:r>
            <a:endParaRPr lang="en-US" sz="1080" dirty="0"/>
          </a:p>
        </p:txBody>
      </p:sp>
      <p:sp>
        <p:nvSpPr>
          <p:cNvPr id="46" name="Shape 37"/>
          <p:cNvSpPr/>
          <p:nvPr/>
        </p:nvSpPr>
        <p:spPr>
          <a:xfrm>
            <a:off x="411480" y="447141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7" name="Text 38"/>
          <p:cNvSpPr/>
          <p:nvPr/>
        </p:nvSpPr>
        <p:spPr>
          <a:xfrm>
            <a:off x="61264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× Day Pivot: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Index cross-tabulated by hour_of_day and day_of_week for hotspot detection.</a:t>
            </a:r>
            <a:endParaRPr lang="en-US" sz="1080" dirty="0"/>
          </a:p>
        </p:txBody>
      </p:sp>
      <p:sp>
        <p:nvSpPr>
          <p:cNvPr id="48" name="Shape 39"/>
          <p:cNvSpPr/>
          <p:nvPr/>
        </p:nvSpPr>
        <p:spPr>
          <a:xfrm>
            <a:off x="6263640" y="447141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9" name="Text 40"/>
          <p:cNvSpPr/>
          <p:nvPr/>
        </p:nvSpPr>
        <p:spPr>
          <a:xfrm>
            <a:off x="646480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Day-Type Treemap: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split between weekday and weekend day types.</a:t>
            </a:r>
            <a:endParaRPr lang="en-US" sz="1080" dirty="0"/>
          </a:p>
        </p:txBody>
      </p:sp>
      <p:sp>
        <p:nvSpPr>
          <p:cNvPr id="50" name="Shape 41"/>
          <p:cNvSpPr/>
          <p:nvPr/>
        </p:nvSpPr>
        <p:spPr>
          <a:xfrm>
            <a:off x="411480" y="507492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1" name="Text 42"/>
          <p:cNvSpPr/>
          <p:nvPr/>
        </p:nvSpPr>
        <p:spPr>
          <a:xfrm>
            <a:off x="612648" y="4937760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 by Zone: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ranking zones from fastest to most congested.</a:t>
            </a:r>
            <a:endParaRPr lang="en-US" sz="1080" dirty="0"/>
          </a:p>
        </p:txBody>
      </p:sp>
      <p:sp>
        <p:nvSpPr>
          <p:cNvPr id="52" name="Text 4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926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  —  Streets &amp; Safety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23444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patterns, infrastructure &amp; emergency response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677924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5778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recorded traffic incidents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2359152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05456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1677924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5456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505456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emergency response (min)</a:t>
            </a:r>
            <a:endParaRPr lang="en-US" sz="830" dirty="0"/>
          </a:p>
        </p:txBody>
      </p:sp>
      <p:sp>
        <p:nvSpPr>
          <p:cNvPr id="17" name="Shape 12"/>
          <p:cNvSpPr/>
          <p:nvPr/>
        </p:nvSpPr>
        <p:spPr>
          <a:xfrm>
            <a:off x="4306824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453128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677924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3128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Efficiency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453128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performance score</a:t>
            </a:r>
            <a:endParaRPr lang="en-US" sz="830" dirty="0"/>
          </a:p>
        </p:txBody>
      </p:sp>
      <p:sp>
        <p:nvSpPr>
          <p:cNvPr id="22" name="Shape 16"/>
          <p:cNvSpPr/>
          <p:nvPr/>
        </p:nvSpPr>
        <p:spPr>
          <a:xfrm>
            <a:off x="6254496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0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677924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 Score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0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coverage index</a:t>
            </a:r>
            <a:endParaRPr lang="en-US" sz="830" dirty="0"/>
          </a:p>
        </p:txBody>
      </p:sp>
      <p:sp>
        <p:nvSpPr>
          <p:cNvPr id="27" name="Shape 20"/>
          <p:cNvSpPr/>
          <p:nvPr/>
        </p:nvSpPr>
        <p:spPr>
          <a:xfrm>
            <a:off x="8202168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48472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1677924"/>
            <a:ext cx="173736" cy="1737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48472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 Index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8348472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road quality score</a:t>
            </a:r>
            <a:endParaRPr lang="en-US" sz="830" dirty="0"/>
          </a:p>
        </p:txBody>
      </p:sp>
      <p:sp>
        <p:nvSpPr>
          <p:cNvPr id="32" name="Shape 24"/>
          <p:cNvSpPr/>
          <p:nvPr/>
        </p:nvSpPr>
        <p:spPr>
          <a:xfrm>
            <a:off x="1014984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296144" y="158191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156" y="1677924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29614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 (sec)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29614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signal wait time</a:t>
            </a:r>
            <a:endParaRPr lang="en-US" sz="830" dirty="0"/>
          </a:p>
        </p:txBody>
      </p:sp>
      <p:sp>
        <p:nvSpPr>
          <p:cNvPr id="37" name="Text 28"/>
          <p:cNvSpPr/>
          <p:nvPr/>
        </p:nvSpPr>
        <p:spPr>
          <a:xfrm>
            <a:off x="4114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11480" y="3264408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9" name="Text 30"/>
          <p:cNvSpPr/>
          <p:nvPr/>
        </p:nvSpPr>
        <p:spPr>
          <a:xfrm>
            <a:off x="61264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 Donut: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incidents by category — collisions, breakdowns, hazards, and more.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263640" y="3264408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1" name="Text 32"/>
          <p:cNvSpPr/>
          <p:nvPr/>
        </p:nvSpPr>
        <p:spPr>
          <a:xfrm>
            <a:off x="646480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Funnel: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view from minor to critical incident_severity levels.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3" name="Text 34"/>
          <p:cNvSpPr/>
          <p:nvPr/>
        </p:nvSpPr>
        <p:spPr>
          <a:xfrm>
            <a:off x="61264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 Line: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daily Incident Count across the Date Hierarchy to spot seasonal spikes.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6263640" y="3867912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5" name="Text 36"/>
          <p:cNvSpPr/>
          <p:nvPr/>
        </p:nvSpPr>
        <p:spPr>
          <a:xfrm>
            <a:off x="646480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Efficiency Bars: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Efficiency compared across signal_type categories.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411480" y="4471416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7" name="Text 38"/>
          <p:cNvSpPr/>
          <p:nvPr/>
        </p:nvSpPr>
        <p:spPr>
          <a:xfrm>
            <a:off x="61264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 Donut: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 Score distributed across city zones.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263640" y="4471416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9" name="Text 40"/>
          <p:cNvSpPr/>
          <p:nvPr/>
        </p:nvSpPr>
        <p:spPr>
          <a:xfrm>
            <a:off x="646480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 Donut: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incidents by road_condition (wet, dry, damaged, etc.).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411480" y="5074920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1" name="Text 42"/>
          <p:cNvSpPr/>
          <p:nvPr/>
        </p:nvSpPr>
        <p:spPr>
          <a:xfrm>
            <a:off x="612648" y="4937760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Treemap: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Count sized by weather_condition to link weather with risk.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6263640" y="5074920"/>
            <a:ext cx="91440" cy="914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3" name="Text 44"/>
          <p:cNvSpPr/>
          <p:nvPr/>
        </p:nvSpPr>
        <p:spPr>
          <a:xfrm>
            <a:off x="6464808" y="4937760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Columns: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 benchmarked against each incident_type.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926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3  —  Hidden Cost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23444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footprint &amp; economic impact of congestion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677924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5778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air quality index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2359152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05456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1677924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5456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CO2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505456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CO2 emissions</a:t>
            </a:r>
            <a:endParaRPr lang="en-US" sz="830" dirty="0"/>
          </a:p>
        </p:txBody>
      </p:sp>
      <p:sp>
        <p:nvSpPr>
          <p:cNvPr id="17" name="Shape 12"/>
          <p:cNvSpPr/>
          <p:nvPr/>
        </p:nvSpPr>
        <p:spPr>
          <a:xfrm>
            <a:off x="4306824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453128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677924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3128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Consumed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453128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 consumption</a:t>
            </a:r>
            <a:endParaRPr lang="en-US" sz="830" dirty="0"/>
          </a:p>
        </p:txBody>
      </p:sp>
      <p:sp>
        <p:nvSpPr>
          <p:cNvPr id="22" name="Shape 16"/>
          <p:cNvSpPr/>
          <p:nvPr/>
        </p:nvSpPr>
        <p:spPr>
          <a:xfrm>
            <a:off x="6254496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0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677924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0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fare value</a:t>
            </a:r>
            <a:endParaRPr lang="en-US" sz="830" dirty="0"/>
          </a:p>
        </p:txBody>
      </p:sp>
      <p:sp>
        <p:nvSpPr>
          <p:cNvPr id="27" name="Shape 20"/>
          <p:cNvSpPr/>
          <p:nvPr/>
        </p:nvSpPr>
        <p:spPr>
          <a:xfrm>
            <a:off x="8202168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48472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1677924"/>
            <a:ext cx="173736" cy="1737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48472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Count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8348472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tracked</a:t>
            </a:r>
            <a:endParaRPr lang="en-US" sz="830" dirty="0"/>
          </a:p>
        </p:txBody>
      </p:sp>
      <p:sp>
        <p:nvSpPr>
          <p:cNvPr id="32" name="Shape 24"/>
          <p:cNvSpPr/>
          <p:nvPr/>
        </p:nvSpPr>
        <p:spPr>
          <a:xfrm>
            <a:off x="10149840" y="1444752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296144" y="1581912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156" y="1677924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296144" y="197510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Noise (dB)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296144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noise pollution level</a:t>
            </a:r>
            <a:endParaRPr lang="en-US" sz="830" dirty="0"/>
          </a:p>
        </p:txBody>
      </p:sp>
      <p:sp>
        <p:nvSpPr>
          <p:cNvPr id="37" name="Text 28"/>
          <p:cNvSpPr/>
          <p:nvPr/>
        </p:nvSpPr>
        <p:spPr>
          <a:xfrm>
            <a:off x="4114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11480" y="3264408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9" name="Text 30"/>
          <p:cNvSpPr/>
          <p:nvPr/>
        </p:nvSpPr>
        <p:spPr>
          <a:xfrm>
            <a:off x="61264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Donut: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air-quality readings across category bands (good, moderate, poor).</a:t>
            </a:r>
            <a:endParaRPr lang="en-US" sz="1080" dirty="0"/>
          </a:p>
        </p:txBody>
      </p:sp>
      <p:sp>
        <p:nvSpPr>
          <p:cNvPr id="40" name="Shape 31"/>
          <p:cNvSpPr/>
          <p:nvPr/>
        </p:nvSpPr>
        <p:spPr>
          <a:xfrm>
            <a:off x="6263640" y="3264408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1" name="Text 32"/>
          <p:cNvSpPr/>
          <p:nvPr/>
        </p:nvSpPr>
        <p:spPr>
          <a:xfrm>
            <a:off x="6464808" y="312724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Trend Area: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tracked monthly and daily over the Date Hierarchy.</a:t>
            </a:r>
            <a:endParaRPr lang="en-US" sz="1080" dirty="0"/>
          </a:p>
        </p:txBody>
      </p:sp>
      <p:sp>
        <p:nvSpPr>
          <p:cNvPr id="42" name="Shape 33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3" name="Text 34"/>
          <p:cNvSpPr/>
          <p:nvPr/>
        </p:nvSpPr>
        <p:spPr>
          <a:xfrm>
            <a:off x="61264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Trend Line: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CO2 emissions trended across the same time hierarchy.</a:t>
            </a:r>
            <a:endParaRPr lang="en-US" sz="1080" dirty="0"/>
          </a:p>
        </p:txBody>
      </p:sp>
      <p:sp>
        <p:nvSpPr>
          <p:cNvPr id="44" name="Shape 35"/>
          <p:cNvSpPr/>
          <p:nvPr/>
        </p:nvSpPr>
        <p:spPr>
          <a:xfrm>
            <a:off x="6263640" y="386791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5" name="Text 36"/>
          <p:cNvSpPr/>
          <p:nvPr/>
        </p:nvSpPr>
        <p:spPr>
          <a:xfrm>
            <a:off x="6464808" y="3730752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by Type Bars: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Consumed compared across dominant_fuel_type (petrol, diesel, EV, CNG).</a:t>
            </a:r>
            <a:endParaRPr lang="en-US" sz="1080" dirty="0"/>
          </a:p>
        </p:txBody>
      </p:sp>
      <p:sp>
        <p:nvSpPr>
          <p:cNvPr id="46" name="Shape 37"/>
          <p:cNvSpPr/>
          <p:nvPr/>
        </p:nvSpPr>
        <p:spPr>
          <a:xfrm>
            <a:off x="411480" y="4471416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7" name="Text 38"/>
          <p:cNvSpPr/>
          <p:nvPr/>
        </p:nvSpPr>
        <p:spPr>
          <a:xfrm>
            <a:off x="61264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vs Traffic Combo: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Consumed and Total Traffic Volume layered by zone to link volume with consumption.</a:t>
            </a:r>
            <a:endParaRPr lang="en-US" sz="1080" dirty="0"/>
          </a:p>
        </p:txBody>
      </p:sp>
      <p:sp>
        <p:nvSpPr>
          <p:cNvPr id="48" name="Shape 39"/>
          <p:cNvSpPr/>
          <p:nvPr/>
        </p:nvSpPr>
        <p:spPr>
          <a:xfrm>
            <a:off x="6263640" y="4471416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9" name="Text 40"/>
          <p:cNvSpPr/>
          <p:nvPr/>
        </p:nvSpPr>
        <p:spPr>
          <a:xfrm>
            <a:off x="6464808" y="4334256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by Zone Bars: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Noise levels ranked across zones to flag noise hotspots.</a:t>
            </a:r>
            <a:endParaRPr lang="en-US" sz="1080" dirty="0"/>
          </a:p>
        </p:txBody>
      </p:sp>
      <p:sp>
        <p:nvSpPr>
          <p:cNvPr id="50" name="Shape 41"/>
          <p:cNvSpPr/>
          <p:nvPr/>
        </p:nvSpPr>
        <p:spPr>
          <a:xfrm>
            <a:off x="411480" y="507492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1" name="Text 42"/>
          <p:cNvSpPr/>
          <p:nvPr/>
        </p:nvSpPr>
        <p:spPr>
          <a:xfrm>
            <a:off x="612648" y="4937760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by Zone Treemap: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CO2 sized by zone, highlighting the highest-emission areas.</a:t>
            </a:r>
            <a:endParaRPr lang="en-US" sz="1080" dirty="0"/>
          </a:p>
        </p:txBody>
      </p:sp>
      <p:sp>
        <p:nvSpPr>
          <p:cNvPr id="52" name="Text 4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once traffic, safety and environmental data are viewed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14426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Concentration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63347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and congestion index both spike sharply during defined hourly windows, with weekday patterns clearly distinct from weekends — pinpointing exactly when intervention matters most.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98264" y="18288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0299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2" y="21442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Disparity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99432" y="263347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speed and traffic status vary significantly across zones and areas, showing that a one-size-fits-all traffic policy would miss the city's real hotspots.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247888" y="18288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0299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214426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5128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Weather Link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49056" y="263347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severity and frequency shift with road_condition and weather_condition, while response time varies meaningfully by incident type — surfacing where emergency resources are most strained.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40740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52170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3891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Gaps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501091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efficiency and CCTV coverage are uneven across zones, suggesting targeted infrastructure upgrades could reduce both incidents and congestion simultaneously.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98264" y="42062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407408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452170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3891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Follow Traffic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9432" y="501091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CO2 and Avg AQI track closely with traffic volume and fuel consumption trends, confirming congestion as a direct driver of air quality decline.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247888" y="420624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25400" dir="5400000">
              <a:srgbClr val="1B2B45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407408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452170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25128" y="43891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Signal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449056" y="5010912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Count alongside fuel-by-type data shows where electric adoption is gaining ground versus zones still dominated by traditional fuel — a clear lever for emissions reduction.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Highlights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engine behind the dashboard — calculated measures and data modeling choices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BY CATEGORY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6309360" cy="1078992"/>
          </a:xfrm>
          <a:prstGeom prst="roundRect">
            <a:avLst>
              <a:gd name="adj" fmla="val 593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3408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446020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286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670048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Traffic Volume · Congestion Index · Capacity Utilization · Travel Time Index · Avg Speed · Speed Violations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401568"/>
            <a:ext cx="6309360" cy="1078992"/>
          </a:xfrm>
          <a:prstGeom prst="roundRect">
            <a:avLst>
              <a:gd name="adj" fmla="val 593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54787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653028"/>
            <a:ext cx="173736" cy="1737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34930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Response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3877056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 · Actual Incidents · Avg Response Time · Signal Efficiency · CCTV Coverage Score · Road Condition Index · Avg Wait Time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608576"/>
            <a:ext cx="6309360" cy="1078992"/>
          </a:xfrm>
          <a:prstGeom prst="roundRect">
            <a:avLst>
              <a:gd name="adj" fmla="val 593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76200" dist="25400" dir="5400000">
              <a:srgbClr val="1B2B45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860036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47000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Cost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" y="5084064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AQI · Total CO2 · Fuel Consumed · Avg Fare · EV Count · Avg Noise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1780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DESIGN NOTES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178040" y="22128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2313432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99248" y="21671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 table (smart_city_traffic_final) with a connected Date table enabling a built-in Date Hierarchy (Year / Month / Day) for time intelligence.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7178040" y="31272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322783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99248" y="30815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 — Performance Bubble Chart — imported to extend beyond native Power BI visual types for richer comparison.</a:t>
            </a:r>
            <a:endParaRPr lang="en-US" sz="1030" dirty="0"/>
          </a:p>
        </p:txBody>
      </p:sp>
      <p:sp>
        <p:nvSpPr>
          <p:cNvPr id="28" name="Shape 21"/>
          <p:cNvSpPr/>
          <p:nvPr/>
        </p:nvSpPr>
        <p:spPr>
          <a:xfrm>
            <a:off x="7178040" y="40416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4142232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699248" y="39959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dark-themed report styling (CY26SU05 base theme) applied uniformly across all three pages for visual cohesion.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7178040" y="49560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4" y="505663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699248" y="49103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 cards reference DAX measures rather than raw columns, ensuring totals stay accurate under any slicer or filter selection.</a:t>
            </a:r>
            <a:endParaRPr lang="en-US" sz="1030" dirty="0"/>
          </a:p>
        </p:txBody>
      </p:sp>
      <p:sp>
        <p:nvSpPr>
          <p:cNvPr id="34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0E7C8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E8A33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City Traffic Analysis dashboard demonstrates how disparate urban data streams — traffic, safety, and environment — can be unified into one decision-support tool. By moving from raw numbers to clear visual stories, it equips planners to act on congestion, safety risk, and emissions with evidence rather than guesswork.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4FB3B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30815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319582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30175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live/streaming traffic feeds for real-time monitoring instead of periodic refreshes.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8803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4FB3BF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88" y="30815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788" y="319582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2280" y="30175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predictive analytics (e.g. forecasting congestion or incident risk) using the existing measure framework.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4805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4FB3BF">
                <a:alpha val="4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46817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79602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geo-analysis with finer-grained location data and route-level detail beyond zones.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89320" y="44805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4FB3BF">
                <a:alpha val="4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90488" y="46817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479602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cost-benefit modeling to translate emissions and fuel metrics into direct policy impact estimates.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9525">
            <a:solidFill>
              <a:srgbClr val="4FB3BF">
                <a:alpha val="4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Dejaswini</a:t>
            </a:r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Analyst Trainee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ANALYSIS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Traffic Analysis</dc:title>
  <dc:subject>PptxGenJS Presentation</dc:subject>
  <dc:creator>Dejaswini</dc:creator>
  <cp:lastModifiedBy>Dejaswini</cp:lastModifiedBy>
  <cp:revision>1</cp:revision>
  <dcterms:created xsi:type="dcterms:W3CDTF">2026-06-17T10:31:27Z</dcterms:created>
  <dcterms:modified xsi:type="dcterms:W3CDTF">2026-06-17T10:31:27Z</dcterms:modified>
</cp:coreProperties>
</file>